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(annual)</c:v>
                </c:pt>
              </c:strCache>
            </c:strRef>
          </c:tx>
          <c:spPr>
            <a:solidFill>
              <a:srgbClr val="C8A95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$175/wk</c:v>
                </c:pt>
                <c:pt idx="1">
                  <c:v>$250/wk</c:v>
                </c:pt>
                <c:pt idx="2">
                  <c:v>$350/wk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127400</c:v>
                </c:pt>
                <c:pt idx="1">
                  <c:v>182000</c:v>
                </c:pt>
                <c:pt idx="2">
                  <c:v>254800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2-4073-8AA5-B0E3EE595E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Debt+T&amp;I (annual)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$175/wk</c:v>
                </c:pt>
                <c:pt idx="1">
                  <c:v>$250/wk</c:v>
                </c:pt>
                <c:pt idx="2">
                  <c:v>$350/wk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160102</c:v>
                </c:pt>
                <c:pt idx="1">
                  <c:v>160102</c:v>
                </c:pt>
                <c:pt idx="2">
                  <c:v>160102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B2-4073-8AA5-B0E3EE595E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91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Hero image (Unsplash): https://images.unsplash.com/photo-1600585154340-be6161a56a0c (via Unsplash search result URL)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Charlotte UDO (Use/definitions referenced later): https://read.charlotteudo.org/
- Fair Housing land-use principles (HUD/DOJ joint statement referenced later): https://www.hud.gov/sites/documents/DOC_7781.PDF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Listing (zoning N1-C, HOA none, price history, taxes): https://www.redfin.com/NC/Charlotte/724-Ideal-Way-28203/home/193321387
- Listing (price / beds-baths context): https://www.zillow.com/homedetails/724-Ideal-Way-Charlotte-NC-28203/347665622_zpid/
- Listing (schools near): https://www.realtor.com/realestateandhomes-detail/724-Ideal-Way_Charlotte_NC_28203_M53450-92171
- Dilworth photo (CC BY-SA 3.0): https://commons.wikimedia.org/wiki/File:Dilworth,_Charlotte_-_panoramio.jpg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Bedroom image (Unsplash): https://images.unsplash.com/photo-1757344454333-cc666252e596
- NC DHHS guidance on licensable facilities / residential programs (discussed later): https://www.ncdhhs.gov/divisions/mental-health-developmental-disabilities-and-substance-abuse-services/apsm-45-lmhca/open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Charlotte UDO definition of “Family” (includes a limit on unrelated individuals): https://read.charlotteudo.org/articles/article-2-rules-of-construction-and-definitions/
- City FAQ: “How many unrelated people can live in a house?” (references the 6-unrelated concept): https://www.charlottenc.gov/files/sharedassets/city/v/2/petitions-and-other-services/zoning-residential-faq.pdf
- Fair housing land-use guidance (HUD/DOJ): https://www.hud.gov/sites/documents/DOC_7781.PDF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Charlotte UDO Article 15 prescribed conditions (Rooming House: owner-occupied + max 5 boarders; Halfway House: max 10; Group Home: max 6): https://read.charlotteudo.org/articles/article-15-development-use-standards/
- NC zoning statute on family care homes (not more than six residents) often shapes local ordinances: https://www.ncleg.gov/EnactedLegislation/Statutes/HTML/BySection/Chapter_160D/GS_160D-907.html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HUD/DOJ joint statement on group homes, local land use, and Fair Housing: https://www.hud.gov/sites/documents/DOC_7781.PDF
- DOJ example settlement re: Oxford House / zoning restrictions (Garner, NC): https://www.justice.gov/opa/pr/justice-department-reaches-settlement-north-carolina-town-resolve-fair-housing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NC Fire Code / definitions (R-4 described as 6–16 receiving custodial care; includes some alcohol/drug centers): https://www.ncosfm.gov/media/4578/open
- Example city guidance on “change of occupancy” process (NC context; illustrates CO/permit concept): https://www.fayettevillenc.gov/Home/ShowDocument?id=22539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HUD/DOJ joint statement on group homes and local land use: https://www.hud.gov/sites/documents/DOC_7781.PDF
- DOJ ADA guidance (OUD/addiction; protections and exclusions): https://www.ada.gov/resources/opioid-use-disorder/
- NC DHHS APSM-45 summary of licensable facilities + definition reference (G.S. 122C-3): https://www.ncdhhs.gov/divisions/mental-health-developmental-disabilities-and-substance-abuse-services/apsm-45-lmhca/open
- NC “SAFE Act” (patient brokering / marketing relationships): https://www.ncleg.gov/Sessions/2023/Bills/Senate/PDF/S408v4.pdf
- NCARR (voluntary certification/standards): https://www.ncarr.org/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Team image (Unsplash): https://images.unsplash.com/photo-1568992688065-536aad8a12f6
- NC DHHS licensure overview (scope clarity to avoid licensure triggers): https://www.ncdhhs.gov/divisions/mental-health-developmental-disabilities-and-substance-abuse-services/apsm-45-lmhca/open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Typical sober living weekly fees in NC (Oxford House range; for context): https://oxfordhousenc.org/faq/
- Example Charlotte sober living weekly fee (for context): https://www.charlottesoberliving.org/
- Another example listing (for context): https://www.recovery.com/oxford-house-charlotte/
- Listing price context used for illustrative financing anchor: https://www.redfin.com/NC/Charlotte/724-Ideal-Way-28203/home/193321387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Sprinkler retrofit cost range (industry overview; typical $2–$7/sqft retrofit): https://www.libertyfiresolutions.com/blog/how-much-does-a-fire-sprinkler-system-cost/
- US Fire Administration (new construction target $1–$1.5/sqft; retrofit noted as possible): https://www.usfa.fema.gov/downloads/pdf/publications/fa_43.pdf
- Bedroom image (Unsplash): https://images.unsplash.com/photo-1757344454333-cc666252e596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Charlotte UDO household/use constraints (family definition; group living prescribed conditions): https://read.charlotteudo.org/
- DOJ/HUD joint statement on Fair Housing and local land use: https://www.hud.gov/sites/documents/DOC_7781.PDF
- NC DHHS licensable facility summary: https://www.ncdhhs.gov/divisions/mental-health-developmental-disabilities-and-substance-abuse-services/apsm-45-lmhca/open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Charlotte UDO portal: https://read.charlotteudo.org/
- HUD/DOJ land use + Fair Housing joint statement: https://www.hud.gov/sites/documents/DOC_7781.PDF
- NC DHHS licensure overview: https://www.ncdhhs.gov/divisions/mental-health-developmental-disabilities-and-substance-abuse-services/apsm-45-lmhca/open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ssets/hero_house.jp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10312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Research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/ Professional Recovery Residence Concept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2651760" cy="7315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6576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724 Ideal Way • Dilworth • Charlotte, NC 28203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Feb 01,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&amp; Research Questions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Draft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thesis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luxury/professional recovery residence at 724 Ideal Way is only feasible if (1) zoning permits the proposed household size or a legally sound approval path is secured; (2) building/fire code requirements for a higher-occupancy residential use can be met; and (3) operations remain compliant with fair-housing, state licensure triggers, and sound risk management — while still producing sustainable unit economics.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980944"/>
            <a:ext cx="10789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for due diligence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10972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Zoning: How does Charlotte classify a “recovery residence” and what’s the allowable occupancy in N1-C?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Codes: Will the city require a change of occupancy (sprinklers, alarm, egress upgrades)?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Legal: What protections/constraints apply under FHA/ADA and NC law?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Licensing: When does a “sober living” model become a licensed treatment/residential program?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Financial: Does a 14-resident model pencil given acquisition costs, staffing, and compliance upgrades?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Snapshot (Dilworth / 724 Ideal Way)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 advice • Verify with City/County</a:t>
            </a:r>
            <a:endParaRPr lang="en-US" sz="1000" dirty="0"/>
          </a:p>
        </p:txBody>
      </p:sp>
      <p:pic>
        <p:nvPicPr>
          <p:cNvPr id="5" name="Image 0" descr="/mnt/data/assets/dilworth_wikimedia.jpg"/>
          <p:cNvPicPr>
            <a:picLocks noChangeAspect="1"/>
          </p:cNvPicPr>
          <p:nvPr/>
        </p:nvPicPr>
        <p:blipFill>
          <a:blip r:embed="rId3"/>
          <a:srcRect t="5145" b="5145"/>
          <a:stretch/>
        </p:blipFill>
        <p:spPr>
          <a:xfrm>
            <a:off x="548640" y="960120"/>
            <a:ext cx="52120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26280"/>
            <a:ext cx="5212080" cy="502920"/>
          </a:xfrm>
          <a:prstGeom prst="rect">
            <a:avLst/>
          </a:prstGeom>
          <a:solidFill>
            <a:srgbClr val="0B1F3A">
              <a:alpha val="90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63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Dilworth streetscape (illustrative)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5650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960120"/>
            <a:ext cx="73152" cy="406908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097280"/>
            <a:ext cx="5330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property facts (from listings + your program concept)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72200" y="1508760"/>
            <a:ext cx="533095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Neighborhood: Dilworth / South End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Zoning (listing): N1-C (Neighborhood 1)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HOA: None listed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Subject home: advertised ~6 beds / 7.5 baths / ~6,379 SF (new build)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Schools nearby: Dilworth ES, Sedgefield MS, Myers Park HS (per listing)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Proposed program: 7 bedrooms × 2 residents = 14 total residents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5257800"/>
            <a:ext cx="5650992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53912" y="5312664"/>
            <a:ext cx="5376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context (high-level)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562356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For-sale price seen on MLS portals: ~$2.498M (verify).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diligence gates: zoning fit + code upgrades + economic feasibility.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Program Model (as described)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service scope early to avoid licensing drift</a:t>
            </a:r>
            <a:endParaRPr lang="en-US" sz="1000" dirty="0"/>
          </a:p>
        </p:txBody>
      </p:sp>
      <p:pic>
        <p:nvPicPr>
          <p:cNvPr id="5" name="Image 0" descr="/mnt/data/assets/bedroom.jpg"/>
          <p:cNvPicPr>
            <a:picLocks noChangeAspect="1"/>
          </p:cNvPicPr>
          <p:nvPr/>
        </p:nvPicPr>
        <p:blipFill>
          <a:blip r:embed="rId3"/>
          <a:srcRect l="23273" r="23273"/>
          <a:stretch/>
        </p:blipFill>
        <p:spPr>
          <a:xfrm>
            <a:off x="548640" y="960120"/>
            <a:ext cx="5212080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309360"/>
            <a:ext cx="5212080" cy="320040"/>
          </a:xfrm>
          <a:prstGeom prst="rect">
            <a:avLst/>
          </a:prstGeom>
          <a:solidFill>
            <a:srgbClr val="0B1F3A">
              <a:alpha val="85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Luxury/shared-room concept (illustrative)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5650992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89320" y="960120"/>
            <a:ext cx="73152" cy="278892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1097280"/>
            <a:ext cx="5330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&amp; positioning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72200" y="1508760"/>
            <a:ext cx="533095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bedrooms, 2 residents per room (14 total)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“Luxury / professional” positioning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baths (as advertised) support a premium model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 success depends on tight house rules + strong screening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3886200"/>
            <a:ext cx="565099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3886200"/>
            <a:ext cx="73152" cy="246888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4023360"/>
            <a:ext cx="5330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scope (two common models)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72200" y="4434840"/>
            <a:ext cx="533095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Peer-support recovery residence (typically unlicensed):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living environment, drug/alcohol-free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Testing, curfews, meetings, employment expectations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supervised residential program (licensed):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Treatment / rehab as primary purpose; staffed program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Triggers facility licensure + different zoning/codes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Gate #1: Household Size in a Single-Family District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14 residents be treated as a “family” or qualifying group-living use?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Charlotte’s UDO “family” concept generally allows: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192024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ABEF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individuals may qualify as a “family”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(depending on exact definition and context)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30952" cy="192024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8321040" y="19202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residents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per bedroom × 7 bedrooms)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155680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849624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residents are unrelated, a 14-person household is likely not permitted as a standard “single-family” use.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project would need a different UDO use category (e.g., group-living) or a zoning approval path.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if residents are protected under Fair Housing/ADA, cities may still regulate by neutral health/safety rules.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Gate #2: UDO “Group Living” / Lodging Uses Have Caps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N1-C, higher-intensity lodging uses are typically constrained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UDO categories commonly evaluated for sober living models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91440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Rooming House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 boarders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60720" y="1645920"/>
            <a:ext cx="5806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zoning use permit; owner must reside; boarders pay rent and share common areas.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743200"/>
            <a:ext cx="91440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House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 residents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2880360"/>
            <a:ext cx="5806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facility for rehab + supervision; UDO limit of 10 residents.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91440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Home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6 residents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760720" y="4114800"/>
            <a:ext cx="5806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facility for up to 6 residents; separation rules may apply; state licensing “as applicable”.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155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212080"/>
            <a:ext cx="91440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49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Single-family “family”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3192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 unrelated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60720" y="5349240"/>
            <a:ext cx="5806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treated as a standard household, unrelated occupancy is constrained by the UDO family definition/FAQ.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155680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769864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a 14-resident plan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6035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14-resident configuration exceeds the stated caps for multiple plausible UDO categories.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 the City to require either (a) reduced occupancy, or (b) a rezoning/approval path in a different district.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Paths (Zoning / Land Use Strategy)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strategy: treat zoning as the first “go/no-go” gate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7033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73152" cy="539496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occupancy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3832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Re-scope to ≤6 residents (fits “family”/group-home thresholds more often)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neighbor friction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Stronger odds of by-right or simpler approvals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fewer beds → requires higher price per resident or lower acquisition cost.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005840"/>
            <a:ext cx="370332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005840"/>
            <a:ext cx="73152" cy="539496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approvals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554480"/>
            <a:ext cx="33832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Pursue rezoning/conditional zoning to a district that supports higher-occupancy group living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 the City for a written zoning interpretation early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residents are protected under FHA/ADA, explore “reasonable accommodation” pathways (case-specific).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time + legal cost + uncertainty + community process.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1005840"/>
            <a:ext cx="386791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005840"/>
            <a:ext cx="73152" cy="5394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14300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asset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1554480"/>
            <a:ext cx="354787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a property already zoned for higher density (multifamily / mixed-use / institutional-adjacent)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“square peg” projects where zoning and economics both fight you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different neighborhood / branding, but often far faster to launch.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+ Fire Code Considerations (Conceptual)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classification depends on care level + occupant load • Engage a code consultant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classification may change when a single-family home becomes a higher-occupancy living arrangement.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205740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R-4 (often)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covers 6–16 occupants receiving custodial care, including some alcohol/drug centers.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require sprinklers, alarms, egress upgrades depending on the adopted code and existing conditions.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600200"/>
            <a:ext cx="73152" cy="205740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37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R-3 (smaller)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1488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group living arrangements can be treated closer to single-family requirements when occupant counts are low.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more plausible at ≤5 or ≤6 residents.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86791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600200"/>
            <a:ext cx="73152" cy="2057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3736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 reality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2148840"/>
            <a:ext cx="35478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cities require: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permit review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inspections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certificate of occupancy (CO) when occupancy/use changes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pre-submittal meeting.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155680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032504"/>
            <a:ext cx="10881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upgrades to anticipate (site-specific)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 protection: interconnected smoke/CO, possibly sprinkler retrofit or enhanced detection/alarm.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Means of egress: bedroom egress windows, door hardware, emergency lighting/signage (if required).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Accessibility: if open to the public or serving residents with mobility needs, evaluate ADA/accessible route impacts.</a:t>
            </a:r>
            <a:endParaRPr lang="en-US" sz="14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Life-safety documentation: written policies, evacuation plan, training, inspections.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 Landscape (NC + Federal)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counsel: land-use attorney + healthcare compliance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7033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73152" cy="5623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Housing / 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3832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People in recovery from addiction can be protected as individuals with disabilities (with key exclusions for current illegal drug use).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Cities must avoid discriminatory zoning, and may need to consider reasonable accommodations — but can still enforce neutral health/safety rules.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Expect high scrutiny if occupancy far exceeds local norms.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960120"/>
            <a:ext cx="370332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960120"/>
            <a:ext cx="73152" cy="562356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licensure triggers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33832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DHHS highlights that a facility is licensable when the primary purpose is care/treatment/rehab for 2+ adults for 24+ hours.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If you provide clinical services (counseling/therapy/medical), you may cross into licensed program territory.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define scope + contracts so “sober living” doesn’t drift into “treatment.”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960120"/>
            <a:ext cx="386791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38100" dist="1524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960120"/>
            <a:ext cx="73152" cy="5623560"/>
          </a:xfrm>
          <a:prstGeom prst="rect">
            <a:avLst/>
          </a:prstGeom>
          <a:solidFill>
            <a:srgbClr val="027A48"/>
          </a:solidFill>
          <a:ln w="12700">
            <a:solidFill>
              <a:srgbClr val="02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097280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+ risk controls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1508760"/>
            <a:ext cx="354787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Written house rules &amp; enforcement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(HIPAA may apply if clinical services are offered)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(GL, property, professional liability if applicable)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“Patient brokering” / kickback prohibitions (SAFE Act) when referral relationships exist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pursue voluntary quality standards (e.g., NCARR) for credibility.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Concept (Luxury / Professional Recovery Residence)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 reduces neighborhood risk and improves outcomes</a:t>
            </a:r>
            <a:endParaRPr lang="en-US" sz="1000" dirty="0"/>
          </a:p>
        </p:txBody>
      </p:sp>
      <p:pic>
        <p:nvPicPr>
          <p:cNvPr id="5" name="Image 0" descr="/mnt/data/assets/team_meeting.jpg"/>
          <p:cNvPicPr>
            <a:picLocks noChangeAspect="1"/>
          </p:cNvPicPr>
          <p:nvPr/>
        </p:nvPicPr>
        <p:blipFill>
          <a:blip r:embed="rId3"/>
          <a:srcRect l="24135" r="24135"/>
          <a:stretch/>
        </p:blipFill>
        <p:spPr>
          <a:xfrm>
            <a:off x="548640" y="960120"/>
            <a:ext cx="5212080" cy="5669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309360"/>
            <a:ext cx="5212080" cy="320040"/>
          </a:xfrm>
          <a:prstGeom prst="rect">
            <a:avLst/>
          </a:prstGeom>
          <a:solidFill>
            <a:srgbClr val="0B1F3A">
              <a:alpha val="85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culture + community standards (illustrative)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89320" y="960120"/>
            <a:ext cx="5650992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53912" y="1014984"/>
            <a:ext cx="5376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operating policies (examples)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80760" y="1325880"/>
            <a:ext cx="54864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Admissions screening + signed rules (curfew, guests, work/meeting expectations)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program (random + for-cause); escalation ladder and discharge process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Quiet hours + parking/traffic plan + smoking policy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Resident accountability (chores, peer support, weekly check-ins)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“Good neighbor policy” + single point of contact for the block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3840480"/>
            <a:ext cx="5650992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3895344"/>
            <a:ext cx="5376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(illustrative)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72200" y="4251960"/>
            <a:ext cx="5349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model commonly uses: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House manager (full-time)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Overnight/on-call coverage (part-time)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Operations/admin (outsourced or fractional)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clinical services are provided on-site, staffing and licensing requirements can change materially.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Feasibility (Illustrative Scenarios)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 • Not a substitute for underwriting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669280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014984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scenarios (14 residents)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669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weekly fee per resident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$175/wk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$10,617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$250/wk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$15,167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$350/wk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$21,233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669280" cy="292608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FEC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86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reality check (illustrative)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251960"/>
            <a:ext cx="53035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purchase @ $2,498,000 with 25% down and 6.5% APR: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Est. P&amp;I ≈ $11,842/mo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taxes/insurance placeholder ≈ $1,500/mo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Debt + T&amp;I ≈ $13,342/mo before utilities, staffing, food, maintenance, etc.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Typical sober-living rates may not support this asset price unless pricing is premium, leverage is low, or the structure is a master-lease/management model.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960120"/>
            <a:ext cx="5193792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014984"/>
            <a:ext cx="4919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gross revenue vs. fixed-cost anchor</a:t>
            </a:r>
            <a:endParaRPr lang="en-US" sz="12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46520" y="1417320"/>
          <a:ext cx="5193792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6446520" y="4343400"/>
            <a:ext cx="5193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to model next: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446520" y="4663440"/>
            <a:ext cx="51937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Required capex for code compliance (sprinklers/alarm/egress)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Staffing + utilities with 14 residents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Pricing power for a “professional luxury” niche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 vs. master lease vs. management agreement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Budget (Ranges) + Compliance Items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ranges depend heavily on code classification and existing systems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upfront cost buckets (illustrative ranges)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7406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note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704088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Furnishings (beds, dressers, linens)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– $60k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040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606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security (cameras, access control, lighting)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6072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 – $25k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04088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Life-safety consult + permitting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6072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– $40k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7040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sprinkler retrofit (if required)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76072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– $7 per sq ft (typical range)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7040880" cy="566928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526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alarm / detection (if required)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6072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$4k – $20k+ (varies widely)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31520" y="5120640"/>
            <a:ext cx="7040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166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upgrades / minor construction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6072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 – $100k+</a:t>
            </a:r>
            <a:endParaRPr lang="en-US" sz="1350" dirty="0"/>
          </a:p>
        </p:txBody>
      </p:sp>
      <p:pic>
        <p:nvPicPr>
          <p:cNvPr id="27" name="Image 0" descr="/mnt/data/assets/bedroom.jpg"/>
          <p:cNvPicPr>
            <a:picLocks noChangeAspect="1"/>
          </p:cNvPicPr>
          <p:nvPr/>
        </p:nvPicPr>
        <p:blipFill>
          <a:blip r:embed="rId3"/>
          <a:srcRect l="3299" r="3299"/>
          <a:stretch/>
        </p:blipFill>
        <p:spPr>
          <a:xfrm>
            <a:off x="7635240" y="1463040"/>
            <a:ext cx="4553712" cy="27432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635240" y="4389120"/>
            <a:ext cx="4553712" cy="310896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99832" y="4443984"/>
            <a:ext cx="4279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drivers that swing the budget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726680" y="475488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Whether sprinklers/alarms are mandated after review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required second means of egress / window retrofits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Soundproofing + durability for 14-person occupancy</a:t>
            </a:r>
            <a:endParaRPr lang="en-US" sz="13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Furniture quality for a premium brand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(What Can Break the Deal)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early • Document everything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3800" y="1115568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0789920" cy="78638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463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enforcement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14-person occupancy conflicts with household/use limits in N1-C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43800" y="14630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written zoning interpretation; consider right-sizing or rezoning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286000"/>
            <a:ext cx="10789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31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upgrades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331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life-safety work increases capex and timeline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43800" y="23317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consultant + pre-submittal; budget for sprinklers/alarm/egress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10789920" cy="78638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Licensure drift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“treatment” services can trigger NC DHHS licensure and different zoning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43800" y="32004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scope; contract external providers off-site if needed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10789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690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opposition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impacts (traffic, noise, safety) can derail approvals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43800" y="40690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neighbor policy; parking plan; quiet hours; responsive management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0789920" cy="78638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937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Insurance/liability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4937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occupancy increases incidents and claim exposure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43800" y="49377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GL, property, EPLI; policies + staff training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31520" y="5760720"/>
            <a:ext cx="10789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8064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00400" y="58064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cost may exceed what typical sober living rates can support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43800" y="58064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(master lease), premium pricing, or different asset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 (30–45 Day Due Diligence Sprint)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53796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clear “go / pivot / no-go” decision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155680" cy="5806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3444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0759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216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interpretation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490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written interpretation from Charlotte Zoning Administrator; confirm the applicable use category &amp; max occupancy.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7627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084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counsel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3591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attorney experienced in Fair Housing accommodations + Charlotte UDO approvals.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68680" y="297180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4495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53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consult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2278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code consultant to opine on occupancy classification, sprinklers, egress, and CO requirements.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1363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Licensure check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63040" y="40965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NC DHHS whether the planned service scope triggers facility licensure.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868680" y="470916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78231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690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49651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3-scenario pro forma (buy vs lease vs management) including capex and operating reserves.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868680" y="5577840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65099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559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plan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58338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Good Neighbor policy, parking plan, and communication channel before any public process.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3712</TotalTime>
  <Words>3379</Words>
  <Application>Microsoft Office PowerPoint</Application>
  <PresentationFormat>Widescreen</PresentationFormat>
  <Paragraphs>277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Confidential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724 Ideal Way – Recovery Residence Feasibility</dc:title>
  <dc:subject>Recovery Residence Feasibility</dc:subject>
  <dc:creator>Prepared with ChatGPT</dc:creator>
  <cp:lastModifiedBy>Heather Young</cp:lastModifiedBy>
  <cp:revision>3</cp:revision>
  <dcterms:created xsi:type="dcterms:W3CDTF">2026-02-01T23:39:55Z</dcterms:created>
  <dcterms:modified xsi:type="dcterms:W3CDTF">2026-02-04T14:05:26Z</dcterms:modified>
</cp:coreProperties>
</file>